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 type="wide"/>
  <p:notesSz cx="6858000" cy="9144000"/>
  <p:defaultTextStyle>
    <a:defPPr>
      <a:defRPr lang="en-US"/>
    </a:def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/Relationships>
</file>

<file path=ppt/slides/_rels/slide1.xml.rels><?xml version="1.0" encoding="UTF-8" standalone="yes"?><Relationships xmlns="http://schemas.openxmlformats.org/package/2006/relationships"></Relationships>
</file>

<file path=ppt/slides/_rels/slide2.xml.rels><?xml version="1.0" encoding="UTF-8" standalone="yes"?><Relationships xmlns="http://schemas.openxmlformats.org/package/2006/relationships"></Relationships>
</file>

<file path=ppt/slides/_rels/slide3.xml.rels><?xml version="1.0" encoding="UTF-8" standalone="yes"?><Relationships xmlns="http://schemas.openxmlformats.org/package/2006/relationships"></Relationships>
</file>

<file path=ppt/slides/_rels/slide4.xml.rels><?xml version="1.0" encoding="UTF-8" standalone="yes"?><Relationships xmlns="http://schemas.openxmlformats.org/package/2006/relationships"></Relationships>
</file>

<file path=ppt/slides/_rels/slide5.xml.rels><?xml version="1.0" encoding="UTF-8" standalone="yes"?><Relationships xmlns="http://schemas.openxmlformats.org/package/2006/relationships"></Relationships>
</file>

<file path=ppt/slides/_rels/slide6.xml.rels><?xml version="1.0" encoding="UTF-8" standalone="yes"?><Relationships xmlns="http://schemas.openxmlformats.org/package/2006/relationships"></Relationships>
</file>

<file path=ppt/slides/_rels/slide7.xml.rels><?xml version="1.0" encoding="UTF-8" standalone="yes"?><Relationships xmlns="http://schemas.openxmlformats.org/package/2006/relationships"></Relationships>
</file>

<file path=ppt/slides/_rels/slide8.xml.rels><?xml version="1.0" encoding="UTF-8" standalone="yes"?><Relationships xmlns="http://schemas.openxmlformats.org/package/2006/relationships"></Relationships>
</file>

<file path=ppt/slides/_rels/slide9.xml.rels><?xml version="1.0" encoding="UTF-8" standalone="yes"?><Relationships xmlns="http://schemas.openxmlformats.org/package/2006/relationships"></Relationships>
</file>

<file path=ppt/slides/_rels/slide10.xml.rels><?xml version="1.0" encoding="UTF-8" standalone="yes"?><Relationships xmlns="http://schemas.openxmlformats.org/package/2006/relationships"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64F"/>
          </a:solidFill>
          <a:ln>
            <a:noFill/>
          </a:ln>
        </p:spPr>
      </p:sp>
      <p:sp>
        <p:nvSpPr>
          <p:cNvPr id="4" name="Shape"/>
          <p:cNvSpPr/>
          <p:nvPr/>
        </p:nvSpPr>
        <p:spPr>
          <a:xfrm>
            <a:off x="594360" y="502920"/>
            <a:ext cx="749808" cy="749808"/>
          </a:xfrm>
          <a:prstGeom prst="roundRect">
            <a:avLst/>
          </a:prstGeom>
          <a:solidFill>
            <a:srgbClr val="F2C94C"/>
          </a:solidFill>
          <a:ln w="12000">
            <a:solidFill>
              <a:srgbClr val="FFFFFF"/>
            </a:solidFill>
          </a:ln>
        </p:spPr>
      </p:sp>
      <p:sp>
        <p:nvSpPr>
          <p:cNvPr id="5" name="Text"/>
          <p:cNvSpPr txBox="1"/>
          <p:nvPr/>
        </p:nvSpPr>
        <p:spPr>
          <a:xfrm>
            <a:off x="1508760" y="438912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4300" b="1">
                <a:solidFill>
                  <a:srgbClr val="FFFFFF"/>
                </a:solidFill>
              </a:rPr>
              <a:t>JobShield AI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536192" y="1143000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700">
                <a:solidFill>
                  <a:srgbClr val="DDE7F5"/>
                </a:solidFill>
              </a:rPr>
              <a:t>AI-powered job scam detection and recruiter verification platform</a:t>
            </a:r>
          </a:p>
        </p:txBody>
      </p:sp>
      <p:sp>
        <p:nvSpPr>
          <p:cNvPr id="7" name="Shape"/>
          <p:cNvSpPr/>
          <p:nvPr/>
        </p:nvSpPr>
        <p:spPr>
          <a:xfrm>
            <a:off x="640080" y="1874519"/>
            <a:ext cx="1088136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8" name="Text"/>
          <p:cNvSpPr txBox="1"/>
          <p:nvPr/>
        </p:nvSpPr>
        <p:spPr>
          <a:xfrm>
            <a:off x="777240" y="224028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800" b="1">
                <a:solidFill>
                  <a:srgbClr val="F2C94C"/>
                </a:solidFill>
              </a:rPr>
              <a:t>Team Name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777240" y="265176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3000" b="1">
                <a:solidFill>
                  <a:srgbClr val="FFFFFF"/>
                </a:solidFill>
              </a:rPr>
              <a:t>INNOVIX</a:t>
            </a:r>
          </a:p>
        </p:txBody>
      </p:sp>
      <p:sp>
        <p:nvSpPr>
          <p:cNvPr id="10" name="Shape"/>
          <p:cNvSpPr/>
          <p:nvPr/>
        </p:nvSpPr>
        <p:spPr>
          <a:xfrm>
            <a:off x="777240" y="3429000"/>
            <a:ext cx="4983480" cy="1417320"/>
          </a:xfrm>
          <a:prstGeom prst="roundRect">
            <a:avLst/>
          </a:prstGeom>
          <a:solidFill>
            <a:srgbClr val="203765"/>
          </a:solidFill>
          <a:ln w="12000">
            <a:solidFill>
              <a:srgbClr val="44619A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1005840" y="3584448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700" b="1">
                <a:solidFill>
                  <a:srgbClr val="F2C94C"/>
                </a:solidFill>
              </a:rPr>
              <a:t>Team Leader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005840" y="3977639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900" b="1">
                <a:solidFill>
                  <a:srgbClr val="FFFFFF"/>
                </a:solidFill>
              </a:rPr>
              <a:t>R Lakshmi Pranay Tej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005840" y="4370832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300">
                <a:solidFill>
                  <a:srgbClr val="DDE7F5"/>
                </a:solidFill>
              </a:rPr>
              <a:t>KG Reddy College of Engineering and Technology</a:t>
            </a:r>
          </a:p>
        </p:txBody>
      </p:sp>
      <p:sp>
        <p:nvSpPr>
          <p:cNvPr id="14" name="Shape"/>
          <p:cNvSpPr/>
          <p:nvPr/>
        </p:nvSpPr>
        <p:spPr>
          <a:xfrm>
            <a:off x="6217920" y="3429000"/>
            <a:ext cx="4983480" cy="1417320"/>
          </a:xfrm>
          <a:prstGeom prst="roundRect">
            <a:avLst/>
          </a:prstGeom>
          <a:solidFill>
            <a:srgbClr val="203765"/>
          </a:solidFill>
          <a:ln w="12000">
            <a:solidFill>
              <a:srgbClr val="44619A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6446520" y="3584448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700" b="1">
                <a:solidFill>
                  <a:srgbClr val="F2C94C"/>
                </a:solidFill>
              </a:rPr>
              <a:t>Team Member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446520" y="3977639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900" b="1">
                <a:solidFill>
                  <a:srgbClr val="FFFFFF"/>
                </a:solidFill>
              </a:rPr>
              <a:t>N Keerthi Sree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6446520" y="4370832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300">
                <a:solidFill>
                  <a:srgbClr val="DDE7F5"/>
                </a:solidFill>
              </a:rPr>
              <a:t>KG Reddy College of Engineering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4264F"/>
          </a:solidFill>
          <a:ln>
            <a:noFill/>
          </a:ln>
        </p:spPr>
      </p:sp>
      <p:sp>
        <p:nvSpPr>
          <p:cNvPr id="4" name="Text"/>
          <p:cNvSpPr txBox="1"/>
          <p:nvPr/>
        </p:nvSpPr>
        <p:spPr>
          <a:xfrm>
            <a:off x="502920" y="109728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JobShield AI | INNOVIX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48640" y="822960"/>
            <a:ext cx="65836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2900" b="1">
                <a:solidFill>
                  <a:srgbClr val="14264F"/>
                </a:solidFill>
              </a:rPr>
              <a:t>Problem Statement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66928" y="1261872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300">
                <a:solidFill>
                  <a:srgbClr val="334155"/>
                </a:solidFill>
              </a:rPr>
              <a:t>Fake job offers are becoming faster, more convincing, and harder to verify.</a:t>
            </a:r>
          </a:p>
        </p:txBody>
      </p:sp>
      <p:sp>
        <p:nvSpPr>
          <p:cNvPr id="7" name="Shape"/>
          <p:cNvSpPr/>
          <p:nvPr/>
        </p:nvSpPr>
        <p:spPr>
          <a:xfrm>
            <a:off x="685800" y="1828800"/>
            <a:ext cx="2926080" cy="3429000"/>
          </a:xfrm>
          <a:prstGeom prst="roundRect">
            <a:avLst/>
          </a:prstGeom>
          <a:solidFill>
            <a:srgbClr val="14264F"/>
          </a:solidFill>
          <a:ln>
            <a:noFill/>
          </a:ln>
        </p:spPr>
      </p:sp>
      <p:sp>
        <p:nvSpPr>
          <p:cNvPr id="8" name="Text"/>
          <p:cNvSpPr txBox="1"/>
          <p:nvPr/>
        </p:nvSpPr>
        <p:spPr>
          <a:xfrm>
            <a:off x="960120" y="23317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800" b="1">
                <a:solidFill>
                  <a:srgbClr val="F2C94C"/>
                </a:solidFill>
              </a:rPr>
              <a:t>WHY IT MATTERS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960120" y="2852928"/>
            <a:ext cx="237744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800" b="1">
                <a:solidFill>
                  <a:srgbClr val="FFFFFF"/>
                </a:solidFill>
              </a:rPr>
              <a:t>Trust before payment, document sharing, or acceptance.</a:t>
            </a:r>
          </a:p>
        </p:txBody>
      </p:sp>
      <p:sp>
        <p:nvSpPr>
          <p:cNvPr id="10" name="Bullets"/>
          <p:cNvSpPr txBox="1"/>
          <p:nvPr/>
        </p:nvSpPr>
        <p:spPr>
          <a:xfrm>
            <a:off x="3977639" y="1783080"/>
            <a:ext cx="70866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170000" tIns="150000" rIns="170000" bIns="150000">
            <a:spAutoFit/>
          </a:bodyPr>
          <a:lstStyle/>
          <a:p>
            <a:pPr marL="285750" indent="-171450">
              <a:buChar char="-"/>
            </a:pPr>
            <a:r>
              <a:rPr lang="en-US" sz="1700">
                <a:solidFill>
                  <a:srgbClr val="0F172A"/>
                </a:solidFill>
              </a:rPr>
              <a:t>Students and freshers are targeted through WhatsApp, Telegram, email, LinkedIn, and job portals.</a:t>
            </a:r>
          </a:p>
          <a:p>
            <a:pPr marL="285750" indent="-171450">
              <a:buChar char="-"/>
            </a:pPr>
            <a:r>
              <a:rPr lang="en-US" sz="1700">
                <a:solidFill>
                  <a:srgbClr val="0F172A"/>
                </a:solidFill>
              </a:rPr>
              <a:t>Scammers use fake HR identities, urgent deadlines, refundable fee claims, and forged offer letters.</a:t>
            </a:r>
          </a:p>
          <a:p>
            <a:pPr marL="285750" indent="-171450">
              <a:buChar char="-"/>
            </a:pPr>
            <a:r>
              <a:rPr lang="en-US" sz="1700">
                <a:solidFill>
                  <a:srgbClr val="0F172A"/>
                </a:solidFill>
              </a:rPr>
              <a:t>Existing tools usually check only links or emails, not the full hiring context.</a:t>
            </a:r>
          </a:p>
          <a:p>
            <a:pPr marL="285750" indent="-171450">
              <a:buChar char="-"/>
            </a:pPr>
            <a:r>
              <a:rPr lang="en-US" sz="1700">
                <a:solidFill>
                  <a:srgbClr val="0F172A"/>
                </a:solidFill>
              </a:rPr>
              <a:t>Victims lose money, documents, time, confidence, and sometimes identity safety.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4264F"/>
          </a:solidFill>
          <a:ln>
            <a:noFill/>
          </a:ln>
        </p:spPr>
      </p:sp>
      <p:sp>
        <p:nvSpPr>
          <p:cNvPr id="4" name="Text"/>
          <p:cNvSpPr txBox="1"/>
          <p:nvPr/>
        </p:nvSpPr>
        <p:spPr>
          <a:xfrm>
            <a:off x="502920" y="109728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JobShield AI | INNOVIX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48640" y="822960"/>
            <a:ext cx="65836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2900" b="1">
                <a:solidFill>
                  <a:srgbClr val="14264F"/>
                </a:solidFill>
              </a:rPr>
              <a:t>Proposed Solution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66928" y="1261872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300">
                <a:solidFill>
                  <a:srgbClr val="334155"/>
                </a:solidFill>
              </a:rPr>
              <a:t>JobShield AI acts as a safety layer before a job seeker trusts, pays, or shares documents.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822960" y="1828800"/>
            <a:ext cx="10287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170000" tIns="150000" rIns="170000" bIns="150000">
            <a:spAutoFit/>
          </a:bodyPr>
          <a:lstStyle/>
          <a:p>
            <a:pPr marL="285750" indent="-171450">
              <a:buChar char="-"/>
            </a:pPr>
            <a:r>
              <a:rPr lang="en-US" sz="1800">
                <a:solidFill>
                  <a:srgbClr val="0F172A"/>
                </a:solidFill>
              </a:rPr>
              <a:t>Analyze job offers, PDFs, screenshots, and recruiter messages.</a:t>
            </a:r>
          </a:p>
          <a:p>
            <a:pPr marL="285750" indent="-171450">
              <a:buChar char="-"/>
            </a:pPr>
            <a:r>
              <a:rPr lang="en-US" sz="1800">
                <a:solidFill>
                  <a:srgbClr val="0F172A"/>
                </a:solidFill>
              </a:rPr>
              <a:t>Generate risk score, red flags, OfferDNA, recruiter reality check, and action plan.</a:t>
            </a:r>
          </a:p>
          <a:p>
            <a:pPr marL="285750" indent="-171450">
              <a:buChar char="-"/>
            </a:pPr>
            <a:r>
              <a:rPr lang="en-US" sz="1800">
                <a:solidFill>
                  <a:srgbClr val="0F172A"/>
                </a:solidFill>
              </a:rPr>
              <a:t>Save scan history and community reports using Supabase.</a:t>
            </a:r>
          </a:p>
          <a:p>
            <a:pPr marL="285750" indent="-171450">
              <a:buChar char="-"/>
            </a:pPr>
            <a:r>
              <a:rPr lang="en-US" sz="1800">
                <a:solidFill>
                  <a:srgbClr val="0F172A"/>
                </a:solidFill>
              </a:rPr>
              <a:t>Use Browser Copilot to detect suspicious messages directly on job-related websites.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4264F"/>
          </a:solidFill>
          <a:ln>
            <a:noFill/>
          </a:ln>
        </p:spPr>
      </p:sp>
      <p:sp>
        <p:nvSpPr>
          <p:cNvPr id="4" name="Text"/>
          <p:cNvSpPr txBox="1"/>
          <p:nvPr/>
        </p:nvSpPr>
        <p:spPr>
          <a:xfrm>
            <a:off x="502920" y="109728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JobShield AI | INNOVIX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48640" y="822960"/>
            <a:ext cx="65836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2900" b="1">
                <a:solidFill>
                  <a:srgbClr val="14264F"/>
                </a:solidFill>
              </a:rPr>
              <a:t>Target Users &amp; Use Cases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66928" y="1261872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300">
                <a:solidFill>
                  <a:srgbClr val="334155"/>
                </a:solidFill>
              </a:rPr>
              <a:t>Built for people who need fast confidence before responding to a job opportunity.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822960" y="1828800"/>
            <a:ext cx="10287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170000" tIns="150000" rIns="170000" bIns="150000">
            <a:spAutoFit/>
          </a:bodyPr>
          <a:lstStyle/>
          <a:p>
            <a:pPr marL="285750" indent="-171450">
              <a:buChar char="-"/>
            </a:pPr>
            <a:r>
              <a:rPr lang="en-US" sz="1800">
                <a:solidFill>
                  <a:srgbClr val="0F172A"/>
                </a:solidFill>
              </a:rPr>
              <a:t>Students and fresh graduates validating first job offers.</a:t>
            </a:r>
          </a:p>
          <a:p>
            <a:pPr marL="285750" indent="-171450">
              <a:buChar char="-"/>
            </a:pPr>
            <a:r>
              <a:rPr lang="en-US" sz="1800">
                <a:solidFill>
                  <a:srgbClr val="0F172A"/>
                </a:solidFill>
              </a:rPr>
              <a:t>Job seekers receiving suspicious HR messages or offer letters.</a:t>
            </a:r>
          </a:p>
          <a:p>
            <a:pPr marL="285750" indent="-171450">
              <a:buChar char="-"/>
            </a:pPr>
            <a:r>
              <a:rPr lang="en-US" sz="1800">
                <a:solidFill>
                  <a:srgbClr val="0F172A"/>
                </a:solidFill>
              </a:rPr>
              <a:t>College placement cells screening reported scams.</a:t>
            </a:r>
          </a:p>
          <a:p>
            <a:pPr marL="285750" indent="-171450">
              <a:buChar char="-"/>
            </a:pPr>
            <a:r>
              <a:rPr lang="en-US" sz="1800">
                <a:solidFill>
                  <a:srgbClr val="0F172A"/>
                </a:solidFill>
              </a:rPr>
              <a:t>Communities sharing scam patterns and fake company alerts.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4264F"/>
          </a:solidFill>
          <a:ln>
            <a:noFill/>
          </a:ln>
        </p:spPr>
      </p:sp>
      <p:sp>
        <p:nvSpPr>
          <p:cNvPr id="4" name="Text"/>
          <p:cNvSpPr txBox="1"/>
          <p:nvPr/>
        </p:nvSpPr>
        <p:spPr>
          <a:xfrm>
            <a:off x="502920" y="109728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JobShield AI | INNOVIX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48640" y="822960"/>
            <a:ext cx="65836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2900" b="1">
                <a:solidFill>
                  <a:srgbClr val="14264F"/>
                </a:solidFill>
              </a:rPr>
              <a:t>Key Features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66928" y="1261872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300">
                <a:solidFill>
                  <a:srgbClr val="334155"/>
                </a:solidFill>
              </a:rPr>
              <a:t>A complete prototype covering detection, explanation, reporting, and browser protection.</a:t>
            </a:r>
          </a:p>
        </p:txBody>
      </p:sp>
      <p:sp>
        <p:nvSpPr>
          <p:cNvPr id="7" name="Shape"/>
          <p:cNvSpPr/>
          <p:nvPr/>
        </p:nvSpPr>
        <p:spPr>
          <a:xfrm>
            <a:off x="685800" y="1828800"/>
            <a:ext cx="5074920" cy="841248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7DEE8"/>
            </a:solidFill>
          </a:ln>
        </p:spPr>
      </p:sp>
      <p:sp>
        <p:nvSpPr>
          <p:cNvPr id="8" name="Text"/>
          <p:cNvSpPr txBox="1"/>
          <p:nvPr/>
        </p:nvSpPr>
        <p:spPr>
          <a:xfrm>
            <a:off x="914400" y="196596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500" b="1">
                <a:solidFill>
                  <a:srgbClr val="14264F"/>
                </a:solidFill>
              </a:rPr>
              <a:t>Check an Offer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914400" y="226771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000">
                <a:solidFill>
                  <a:srgbClr val="334155"/>
                </a:solidFill>
              </a:rPr>
              <a:t>AI scan for offer letters, screenshots, PDFs, and pasted text.</a:t>
            </a:r>
          </a:p>
        </p:txBody>
      </p:sp>
      <p:sp>
        <p:nvSpPr>
          <p:cNvPr id="10" name="Shape"/>
          <p:cNvSpPr/>
          <p:nvPr/>
        </p:nvSpPr>
        <p:spPr>
          <a:xfrm>
            <a:off x="6217920" y="1828800"/>
            <a:ext cx="5074920" cy="841248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7DEE8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6446520" y="196596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500" b="1">
                <a:solidFill>
                  <a:srgbClr val="14264F"/>
                </a:solidFill>
              </a:rPr>
              <a:t>Check Recruiter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6446520" y="226771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000">
                <a:solidFill>
                  <a:srgbClr val="334155"/>
                </a:solidFill>
              </a:rPr>
              <a:t>identity and behavior risk signals for HR or recruiter claims.</a:t>
            </a:r>
          </a:p>
        </p:txBody>
      </p:sp>
      <p:sp>
        <p:nvSpPr>
          <p:cNvPr id="13" name="Shape"/>
          <p:cNvSpPr/>
          <p:nvPr/>
        </p:nvSpPr>
        <p:spPr>
          <a:xfrm>
            <a:off x="685800" y="2971800"/>
            <a:ext cx="5074920" cy="841248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7DEE8"/>
            </a:solidFill>
          </a:ln>
        </p:spPr>
      </p:sp>
      <p:sp>
        <p:nvSpPr>
          <p:cNvPr id="14" name="Text"/>
          <p:cNvSpPr txBox="1"/>
          <p:nvPr/>
        </p:nvSpPr>
        <p:spPr>
          <a:xfrm>
            <a:off x="914400" y="310896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500" b="1">
                <a:solidFill>
                  <a:srgbClr val="14264F"/>
                </a:solidFill>
              </a:rPr>
              <a:t>OfferDNA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14400" y="341071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000">
                <a:solidFill>
                  <a:srgbClr val="334155"/>
                </a:solidFill>
              </a:rPr>
              <a:t>structured breakdown of salary, role, contract, payment, and interview risk.</a:t>
            </a:r>
          </a:p>
        </p:txBody>
      </p:sp>
      <p:sp>
        <p:nvSpPr>
          <p:cNvPr id="16" name="Shape"/>
          <p:cNvSpPr/>
          <p:nvPr/>
        </p:nvSpPr>
        <p:spPr>
          <a:xfrm>
            <a:off x="6217920" y="2971800"/>
            <a:ext cx="5074920" cy="841248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7DEE8"/>
            </a:solidFill>
          </a:ln>
        </p:spPr>
      </p:sp>
      <p:sp>
        <p:nvSpPr>
          <p:cNvPr id="17" name="Text"/>
          <p:cNvSpPr txBox="1"/>
          <p:nvPr/>
        </p:nvSpPr>
        <p:spPr>
          <a:xfrm>
            <a:off x="6446520" y="310896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500" b="1">
                <a:solidFill>
                  <a:srgbClr val="14264F"/>
                </a:solidFill>
              </a:rPr>
              <a:t>Scam Radar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6446520" y="341071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000">
                <a:solidFill>
                  <a:srgbClr val="334155"/>
                </a:solidFill>
              </a:rPr>
              <a:t>community intelligence and trend visibility.</a:t>
            </a:r>
          </a:p>
        </p:txBody>
      </p:sp>
      <p:sp>
        <p:nvSpPr>
          <p:cNvPr id="19" name="Shape"/>
          <p:cNvSpPr/>
          <p:nvPr/>
        </p:nvSpPr>
        <p:spPr>
          <a:xfrm>
            <a:off x="685800" y="4114800"/>
            <a:ext cx="5074920" cy="841248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7DEE8"/>
            </a:solidFill>
          </a:ln>
        </p:spPr>
      </p:sp>
      <p:sp>
        <p:nvSpPr>
          <p:cNvPr id="20" name="Text"/>
          <p:cNvSpPr txBox="1"/>
          <p:nvPr/>
        </p:nvSpPr>
        <p:spPr>
          <a:xfrm>
            <a:off x="914400" y="425196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500" b="1">
                <a:solidFill>
                  <a:srgbClr val="14264F"/>
                </a:solidFill>
              </a:rPr>
              <a:t>Browser Copilot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14400" y="455371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000">
                <a:solidFill>
                  <a:srgbClr val="334155"/>
                </a:solidFill>
              </a:rPr>
              <a:t>real-time warning layer for WhatsApp Web, LinkedIn, Gmail, Telegram Web, and portals.</a:t>
            </a:r>
          </a:p>
        </p:txBody>
      </p:sp>
      <p:sp>
        <p:nvSpPr>
          <p:cNvPr id="22" name="Shape"/>
          <p:cNvSpPr/>
          <p:nvPr/>
        </p:nvSpPr>
        <p:spPr>
          <a:xfrm>
            <a:off x="6217920" y="4114800"/>
            <a:ext cx="5074920" cy="841248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7DEE8"/>
            </a:solidFill>
          </a:ln>
        </p:spPr>
      </p:sp>
      <p:sp>
        <p:nvSpPr>
          <p:cNvPr id="23" name="Text"/>
          <p:cNvSpPr txBox="1"/>
          <p:nvPr/>
        </p:nvSpPr>
        <p:spPr>
          <a:xfrm>
            <a:off x="6446520" y="425196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500" b="1">
                <a:solidFill>
                  <a:srgbClr val="14264F"/>
                </a:solidFill>
              </a:rPr>
              <a:t>Emergency Help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6446520" y="455371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000">
                <a:solidFill>
                  <a:srgbClr val="334155"/>
                </a:solidFill>
              </a:rPr>
              <a:t>action steps after payment or document exposure.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4264F"/>
          </a:solidFill>
          <a:ln>
            <a:noFill/>
          </a:ln>
        </p:spPr>
      </p:sp>
      <p:sp>
        <p:nvSpPr>
          <p:cNvPr id="4" name="Text"/>
          <p:cNvSpPr txBox="1"/>
          <p:nvPr/>
        </p:nvSpPr>
        <p:spPr>
          <a:xfrm>
            <a:off x="502920" y="109728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JobShield AI | INNOVIX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48640" y="822960"/>
            <a:ext cx="65836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2900" b="1">
                <a:solidFill>
                  <a:srgbClr val="14264F"/>
                </a:solidFill>
              </a:rPr>
              <a:t>Technology Stack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66928" y="1261872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300">
                <a:solidFill>
                  <a:srgbClr val="334155"/>
                </a:solidFill>
              </a:rPr>
              <a:t>Modern web stack with secure AI backend and persistent scam intelligence storage.</a:t>
            </a:r>
          </a:p>
        </p:txBody>
      </p:sp>
      <p:sp>
        <p:nvSpPr>
          <p:cNvPr id="7" name="Shape"/>
          <p:cNvSpPr/>
          <p:nvPr/>
        </p:nvSpPr>
        <p:spPr>
          <a:xfrm>
            <a:off x="685800" y="1965960"/>
            <a:ext cx="3246120" cy="105156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7DEE8"/>
            </a:solidFill>
          </a:ln>
        </p:spPr>
      </p:sp>
      <p:sp>
        <p:nvSpPr>
          <p:cNvPr id="8" name="Shape"/>
          <p:cNvSpPr/>
          <p:nvPr/>
        </p:nvSpPr>
        <p:spPr>
          <a:xfrm>
            <a:off x="685800" y="1965960"/>
            <a:ext cx="146304" cy="1051560"/>
          </a:xfrm>
          <a:prstGeom prst="rect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9" name="Text"/>
          <p:cNvSpPr txBox="1"/>
          <p:nvPr/>
        </p:nvSpPr>
        <p:spPr>
          <a:xfrm>
            <a:off x="1005840" y="2112264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700" b="1">
                <a:solidFill>
                  <a:srgbClr val="14264F"/>
                </a:solidFill>
              </a:rPr>
              <a:t>Frontend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005840" y="2468880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200">
                <a:solidFill>
                  <a:srgbClr val="334155"/>
                </a:solidFill>
              </a:rPr>
              <a:t>React, Vite, Tailwind</a:t>
            </a:r>
          </a:p>
        </p:txBody>
      </p:sp>
      <p:sp>
        <p:nvSpPr>
          <p:cNvPr id="11" name="Shape"/>
          <p:cNvSpPr/>
          <p:nvPr/>
        </p:nvSpPr>
        <p:spPr>
          <a:xfrm>
            <a:off x="4480560" y="1965960"/>
            <a:ext cx="3246120" cy="105156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7DEE8"/>
            </a:solidFill>
          </a:ln>
        </p:spPr>
      </p:sp>
      <p:sp>
        <p:nvSpPr>
          <p:cNvPr id="12" name="Shape"/>
          <p:cNvSpPr/>
          <p:nvPr/>
        </p:nvSpPr>
        <p:spPr>
          <a:xfrm>
            <a:off x="4480560" y="1965960"/>
            <a:ext cx="146304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3" name="Text"/>
          <p:cNvSpPr txBox="1"/>
          <p:nvPr/>
        </p:nvSpPr>
        <p:spPr>
          <a:xfrm>
            <a:off x="4800600" y="2112264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700" b="1">
                <a:solidFill>
                  <a:srgbClr val="14264F"/>
                </a:solidFill>
              </a:rPr>
              <a:t>Backend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4800600" y="2468880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200">
                <a:solidFill>
                  <a:srgbClr val="334155"/>
                </a:solidFill>
              </a:rPr>
              <a:t>Supabase services</a:t>
            </a:r>
          </a:p>
        </p:txBody>
      </p:sp>
      <p:sp>
        <p:nvSpPr>
          <p:cNvPr id="15" name="Shape"/>
          <p:cNvSpPr/>
          <p:nvPr/>
        </p:nvSpPr>
        <p:spPr>
          <a:xfrm>
            <a:off x="8275320" y="1965960"/>
            <a:ext cx="3246120" cy="105156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7DEE8"/>
            </a:solidFill>
          </a:ln>
        </p:spPr>
      </p:sp>
      <p:sp>
        <p:nvSpPr>
          <p:cNvPr id="16" name="Shape"/>
          <p:cNvSpPr/>
          <p:nvPr/>
        </p:nvSpPr>
        <p:spPr>
          <a:xfrm>
            <a:off x="8275320" y="1965960"/>
            <a:ext cx="146304" cy="1051560"/>
          </a:xfrm>
          <a:prstGeom prst="rect">
            <a:avLst/>
          </a:prstGeom>
          <a:solidFill>
            <a:srgbClr val="F2C94C"/>
          </a:solidFill>
          <a:ln>
            <a:noFill/>
          </a:ln>
        </p:spPr>
      </p:sp>
      <p:sp>
        <p:nvSpPr>
          <p:cNvPr id="17" name="Text"/>
          <p:cNvSpPr txBox="1"/>
          <p:nvPr/>
        </p:nvSpPr>
        <p:spPr>
          <a:xfrm>
            <a:off x="8595360" y="2112264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700" b="1">
                <a:solidFill>
                  <a:srgbClr val="14264F"/>
                </a:solidFill>
              </a:rPr>
              <a:t>AI Layer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8595360" y="2468880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200">
                <a:solidFill>
                  <a:srgbClr val="334155"/>
                </a:solidFill>
              </a:rPr>
              <a:t>Gemini Edge Function</a:t>
            </a:r>
          </a:p>
        </p:txBody>
      </p:sp>
      <p:sp>
        <p:nvSpPr>
          <p:cNvPr id="19" name="Shape"/>
          <p:cNvSpPr/>
          <p:nvPr/>
        </p:nvSpPr>
        <p:spPr>
          <a:xfrm>
            <a:off x="685800" y="3383280"/>
            <a:ext cx="3246120" cy="105156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7DEE8"/>
            </a:solidFill>
          </a:ln>
        </p:spPr>
      </p:sp>
      <p:sp>
        <p:nvSpPr>
          <p:cNvPr id="20" name="Shape"/>
          <p:cNvSpPr/>
          <p:nvPr/>
        </p:nvSpPr>
        <p:spPr>
          <a:xfrm>
            <a:off x="685800" y="3383280"/>
            <a:ext cx="146304" cy="1051560"/>
          </a:xfrm>
          <a:prstGeom prst="rect">
            <a:avLst/>
          </a:prstGeom>
          <a:solidFill>
            <a:srgbClr val="06B6D4"/>
          </a:solidFill>
          <a:ln>
            <a:noFill/>
          </a:ln>
        </p:spPr>
      </p:sp>
      <p:sp>
        <p:nvSpPr>
          <p:cNvPr id="21" name="Text"/>
          <p:cNvSpPr txBox="1"/>
          <p:nvPr/>
        </p:nvSpPr>
        <p:spPr>
          <a:xfrm>
            <a:off x="1005840" y="3529584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700" b="1">
                <a:solidFill>
                  <a:srgbClr val="14264F"/>
                </a:solidFill>
              </a:rPr>
              <a:t>Extension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1005840" y="3886200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200">
                <a:solidFill>
                  <a:srgbClr val="334155"/>
                </a:solidFill>
              </a:rPr>
              <a:t>Manifest V3 Copilot</a:t>
            </a:r>
          </a:p>
        </p:txBody>
      </p:sp>
      <p:sp>
        <p:nvSpPr>
          <p:cNvPr id="23" name="Shape"/>
          <p:cNvSpPr/>
          <p:nvPr/>
        </p:nvSpPr>
        <p:spPr>
          <a:xfrm>
            <a:off x="4480560" y="3383280"/>
            <a:ext cx="3246120" cy="105156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7DEE8"/>
            </a:solidFill>
          </a:ln>
        </p:spPr>
      </p:sp>
      <p:sp>
        <p:nvSpPr>
          <p:cNvPr id="24" name="Shape"/>
          <p:cNvSpPr/>
          <p:nvPr/>
        </p:nvSpPr>
        <p:spPr>
          <a:xfrm>
            <a:off x="4480560" y="3383280"/>
            <a:ext cx="146304" cy="1051560"/>
          </a:xfrm>
          <a:prstGeom prst="rect">
            <a:avLst/>
          </a:prstGeom>
          <a:solidFill>
            <a:srgbClr val="14264F"/>
          </a:solidFill>
          <a:ln>
            <a:noFill/>
          </a:ln>
        </p:spPr>
      </p:sp>
      <p:sp>
        <p:nvSpPr>
          <p:cNvPr id="25" name="Text"/>
          <p:cNvSpPr txBox="1"/>
          <p:nvPr/>
        </p:nvSpPr>
        <p:spPr>
          <a:xfrm>
            <a:off x="4800600" y="3529584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700" b="1">
                <a:solidFill>
                  <a:srgbClr val="14264F"/>
                </a:solidFill>
              </a:rPr>
              <a:t>Deploy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4800600" y="3886200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200">
                <a:solidFill>
                  <a:srgbClr val="334155"/>
                </a:solidFill>
              </a:rPr>
              <a:t>Vercel + Supabase</a:t>
            </a:r>
          </a:p>
        </p:txBody>
      </p:sp>
      <p:sp>
        <p:nvSpPr>
          <p:cNvPr id="27" name="Bullets"/>
          <p:cNvSpPr txBox="1"/>
          <p:nvPr/>
        </p:nvSpPr>
        <p:spPr>
          <a:xfrm>
            <a:off x="685800" y="4800600"/>
            <a:ext cx="1078992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D7DEE8"/>
            </a:solidFill>
          </a:ln>
        </p:spPr>
        <p:txBody>
          <a:bodyPr wrap="square" lIns="170000" tIns="150000" rIns="170000" bIns="150000">
            <a:spAutoFit/>
          </a:bodyPr>
          <a:lstStyle/>
          <a:p>
            <a:r>
              <a:rPr lang="en-US" sz="1500" b="1">
                <a:solidFill>
                  <a:srgbClr val="14264F"/>
                </a:solidFill>
              </a:rPr>
              <a:t>Core dependencies</a:t>
            </a:r>
          </a:p>
          <a:p>
            <a:pPr marL="285750" indent="-171450">
              <a:buChar char="-"/>
            </a:pPr>
            <a:r>
              <a:rPr lang="en-US" sz="1200">
                <a:solidFill>
                  <a:srgbClr val="334155"/>
                </a:solidFill>
              </a:rPr>
              <a:t>Frontend: React 18, Vite, Tailwind CSS, React Router</a:t>
            </a:r>
          </a:p>
          <a:p>
            <a:pPr marL="285750" indent="-171450">
              <a:buChar char="-"/>
            </a:pPr>
            <a:r>
              <a:rPr lang="en-US" sz="1200">
                <a:solidFill>
                  <a:srgbClr val="334155"/>
                </a:solidFill>
              </a:rPr>
              <a:t>UI: Radix UI, Lucide React, Framer Motion, Recharts</a:t>
            </a:r>
          </a:p>
          <a:p>
            <a:pPr marL="285750" indent="-171450">
              <a:buChar char="-"/>
            </a:pPr>
            <a:r>
              <a:rPr lang="en-US" sz="1200">
                <a:solidFill>
                  <a:srgbClr val="334155"/>
                </a:solidFill>
              </a:rPr>
              <a:t>Backend: Supabase Database, Auth, Storage, Edge Functions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4264F"/>
          </a:solidFill>
          <a:ln>
            <a:noFill/>
          </a:ln>
        </p:spPr>
      </p:sp>
      <p:sp>
        <p:nvSpPr>
          <p:cNvPr id="4" name="Text"/>
          <p:cNvSpPr txBox="1"/>
          <p:nvPr/>
        </p:nvSpPr>
        <p:spPr>
          <a:xfrm>
            <a:off x="502920" y="109728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JobShield AI | INNOVIX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48640" y="822960"/>
            <a:ext cx="65836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2900" b="1">
                <a:solidFill>
                  <a:srgbClr val="14264F"/>
                </a:solidFill>
              </a:rPr>
              <a:t>System Architecture / Workflow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66928" y="1261872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300">
                <a:solidFill>
                  <a:srgbClr val="334155"/>
                </a:solidFill>
              </a:rPr>
              <a:t>Secure flow from user input to AI verdict and saved report.</a:t>
            </a:r>
          </a:p>
        </p:txBody>
      </p:sp>
      <p:sp>
        <p:nvSpPr>
          <p:cNvPr id="7" name="Shape"/>
          <p:cNvSpPr/>
          <p:nvPr/>
        </p:nvSpPr>
        <p:spPr>
          <a:xfrm>
            <a:off x="685800" y="2331720"/>
            <a:ext cx="1417320" cy="777240"/>
          </a:xfrm>
          <a:prstGeom prst="roundRect">
            <a:avLst/>
          </a:prstGeom>
          <a:solidFill>
            <a:srgbClr val="14264F"/>
          </a:solidFill>
          <a:ln w="12000">
            <a:solidFill>
              <a:srgbClr val="FFFFFF"/>
            </a:solidFill>
          </a:ln>
        </p:spPr>
      </p:sp>
      <p:sp>
        <p:nvSpPr>
          <p:cNvPr id="8" name="Text"/>
          <p:cNvSpPr txBox="1"/>
          <p:nvPr/>
        </p:nvSpPr>
        <p:spPr>
          <a:xfrm>
            <a:off x="758952" y="2478024"/>
            <a:ext cx="1271016" cy="38404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User Input</a:t>
            </a:r>
          </a:p>
        </p:txBody>
      </p:sp>
      <p:cxnSp>
        <p:nvCxnSpPr>
          <p:cNvPr id="9" name="Connector"/>
          <p:cNvCxnSpPr/>
          <p:nvPr/>
        </p:nvCxnSpPr>
        <p:spPr>
          <a:xfrm>
            <a:off x="2121408" y="2715768"/>
            <a:ext cx="164592" cy="0"/>
          </a:xfrm>
          <a:prstGeom prst="line">
            <a:avLst/>
          </a:prstGeom>
          <a:ln w="18000">
            <a:solidFill>
              <a:srgbClr val="334155"/>
            </a:solidFill>
          </a:ln>
        </p:spPr>
      </p:cxnSp>
      <p:sp>
        <p:nvSpPr>
          <p:cNvPr id="10" name="Shape"/>
          <p:cNvSpPr/>
          <p:nvPr/>
        </p:nvSpPr>
        <p:spPr>
          <a:xfrm>
            <a:off x="2304288" y="2331720"/>
            <a:ext cx="1417320" cy="777240"/>
          </a:xfrm>
          <a:prstGeom prst="roundRect">
            <a:avLst/>
          </a:prstGeom>
          <a:solidFill>
            <a:srgbClr val="1D4ED8"/>
          </a:solidFill>
          <a:ln w="12000">
            <a:solidFill>
              <a:srgbClr val="FFFFFF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2377440" y="2478024"/>
            <a:ext cx="1271016" cy="38404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React Frontend</a:t>
            </a:r>
          </a:p>
        </p:txBody>
      </p:sp>
      <p:cxnSp>
        <p:nvCxnSpPr>
          <p:cNvPr id="12" name="Connector"/>
          <p:cNvCxnSpPr/>
          <p:nvPr/>
        </p:nvCxnSpPr>
        <p:spPr>
          <a:xfrm>
            <a:off x="3739896" y="2715768"/>
            <a:ext cx="164592" cy="0"/>
          </a:xfrm>
          <a:prstGeom prst="line">
            <a:avLst/>
          </a:prstGeom>
          <a:ln w="18000">
            <a:solidFill>
              <a:srgbClr val="334155"/>
            </a:solidFill>
          </a:ln>
        </p:spPr>
      </p:cxnSp>
      <p:sp>
        <p:nvSpPr>
          <p:cNvPr id="13" name="Shape"/>
          <p:cNvSpPr/>
          <p:nvPr/>
        </p:nvSpPr>
        <p:spPr>
          <a:xfrm>
            <a:off x="3922776" y="2331720"/>
            <a:ext cx="1417320" cy="777240"/>
          </a:xfrm>
          <a:prstGeom prst="roundRect">
            <a:avLst/>
          </a:prstGeom>
          <a:solidFill>
            <a:srgbClr val="06B6D4"/>
          </a:solidFill>
          <a:ln w="12000">
            <a:solidFill>
              <a:srgbClr val="FFFFFF"/>
            </a:solidFill>
          </a:ln>
        </p:spPr>
      </p:sp>
      <p:sp>
        <p:nvSpPr>
          <p:cNvPr id="14" name="Text"/>
          <p:cNvSpPr txBox="1"/>
          <p:nvPr/>
        </p:nvSpPr>
        <p:spPr>
          <a:xfrm>
            <a:off x="3995928" y="2478024"/>
            <a:ext cx="1271016" cy="38404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Supabase Client</a:t>
            </a:r>
          </a:p>
        </p:txBody>
      </p:sp>
      <p:cxnSp>
        <p:nvCxnSpPr>
          <p:cNvPr id="15" name="Connector"/>
          <p:cNvCxnSpPr/>
          <p:nvPr/>
        </p:nvCxnSpPr>
        <p:spPr>
          <a:xfrm>
            <a:off x="5358384" y="2715768"/>
            <a:ext cx="164592" cy="0"/>
          </a:xfrm>
          <a:prstGeom prst="line">
            <a:avLst/>
          </a:prstGeom>
          <a:ln w="18000">
            <a:solidFill>
              <a:srgbClr val="334155"/>
            </a:solidFill>
          </a:ln>
        </p:spPr>
      </p:cxnSp>
      <p:sp>
        <p:nvSpPr>
          <p:cNvPr id="16" name="Shape"/>
          <p:cNvSpPr/>
          <p:nvPr/>
        </p:nvSpPr>
        <p:spPr>
          <a:xfrm>
            <a:off x="5541264" y="2331720"/>
            <a:ext cx="1417320" cy="777240"/>
          </a:xfrm>
          <a:prstGeom prst="roundRect">
            <a:avLst/>
          </a:prstGeom>
          <a:solidFill>
            <a:srgbClr val="10B981"/>
          </a:solidFill>
          <a:ln w="12000">
            <a:solidFill>
              <a:srgbClr val="FFFFFF"/>
            </a:solidFill>
          </a:ln>
        </p:spPr>
      </p:sp>
      <p:sp>
        <p:nvSpPr>
          <p:cNvPr id="17" name="Text"/>
          <p:cNvSpPr txBox="1"/>
          <p:nvPr/>
        </p:nvSpPr>
        <p:spPr>
          <a:xfrm>
            <a:off x="5614416" y="2478024"/>
            <a:ext cx="1271016" cy="38404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Edge Function</a:t>
            </a:r>
          </a:p>
        </p:txBody>
      </p:sp>
      <p:cxnSp>
        <p:nvCxnSpPr>
          <p:cNvPr id="18" name="Connector"/>
          <p:cNvCxnSpPr/>
          <p:nvPr/>
        </p:nvCxnSpPr>
        <p:spPr>
          <a:xfrm>
            <a:off x="6976872" y="2715768"/>
            <a:ext cx="164592" cy="0"/>
          </a:xfrm>
          <a:prstGeom prst="line">
            <a:avLst/>
          </a:prstGeom>
          <a:ln w="18000">
            <a:solidFill>
              <a:srgbClr val="334155"/>
            </a:solidFill>
          </a:ln>
        </p:spPr>
      </p:cxnSp>
      <p:sp>
        <p:nvSpPr>
          <p:cNvPr id="19" name="Shape"/>
          <p:cNvSpPr/>
          <p:nvPr/>
        </p:nvSpPr>
        <p:spPr>
          <a:xfrm>
            <a:off x="7159752" y="2331720"/>
            <a:ext cx="1417320" cy="777240"/>
          </a:xfrm>
          <a:prstGeom prst="roundRect">
            <a:avLst/>
          </a:prstGeom>
          <a:solidFill>
            <a:srgbClr val="F2C94C"/>
          </a:solidFill>
          <a:ln w="12000">
            <a:solidFill>
              <a:srgbClr val="FFFFFF"/>
            </a:solidFill>
          </a:ln>
        </p:spPr>
      </p:sp>
      <p:sp>
        <p:nvSpPr>
          <p:cNvPr id="20" name="Text"/>
          <p:cNvSpPr txBox="1"/>
          <p:nvPr/>
        </p:nvSpPr>
        <p:spPr>
          <a:xfrm>
            <a:off x="7232904" y="2478024"/>
            <a:ext cx="1271016" cy="38404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Google Gemini</a:t>
            </a:r>
          </a:p>
        </p:txBody>
      </p:sp>
      <p:cxnSp>
        <p:nvCxnSpPr>
          <p:cNvPr id="21" name="Connector"/>
          <p:cNvCxnSpPr/>
          <p:nvPr/>
        </p:nvCxnSpPr>
        <p:spPr>
          <a:xfrm>
            <a:off x="8595360" y="2715768"/>
            <a:ext cx="164592" cy="0"/>
          </a:xfrm>
          <a:prstGeom prst="line">
            <a:avLst/>
          </a:prstGeom>
          <a:ln w="18000">
            <a:solidFill>
              <a:srgbClr val="334155"/>
            </a:solidFill>
          </a:ln>
        </p:spPr>
      </p:cxnSp>
      <p:sp>
        <p:nvSpPr>
          <p:cNvPr id="22" name="Shape"/>
          <p:cNvSpPr/>
          <p:nvPr/>
        </p:nvSpPr>
        <p:spPr>
          <a:xfrm>
            <a:off x="8778240" y="2331720"/>
            <a:ext cx="1417320" cy="777240"/>
          </a:xfrm>
          <a:prstGeom prst="roundRect">
            <a:avLst/>
          </a:prstGeom>
          <a:solidFill>
            <a:srgbClr val="EF4444"/>
          </a:solidFill>
          <a:ln w="12000">
            <a:solidFill>
              <a:srgbClr val="FFFFFF"/>
            </a:solidFill>
          </a:ln>
        </p:spPr>
      </p:sp>
      <p:sp>
        <p:nvSpPr>
          <p:cNvPr id="23" name="Text"/>
          <p:cNvSpPr txBox="1"/>
          <p:nvPr/>
        </p:nvSpPr>
        <p:spPr>
          <a:xfrm>
            <a:off x="8851392" y="2478024"/>
            <a:ext cx="1271016" cy="38404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Risk Verdict</a:t>
            </a:r>
          </a:p>
        </p:txBody>
      </p:sp>
      <p:cxnSp>
        <p:nvCxnSpPr>
          <p:cNvPr id="24" name="Connector"/>
          <p:cNvCxnSpPr/>
          <p:nvPr/>
        </p:nvCxnSpPr>
        <p:spPr>
          <a:xfrm>
            <a:off x="10213848" y="2715768"/>
            <a:ext cx="164592" cy="0"/>
          </a:xfrm>
          <a:prstGeom prst="line">
            <a:avLst/>
          </a:prstGeom>
          <a:ln w="18000">
            <a:solidFill>
              <a:srgbClr val="334155"/>
            </a:solidFill>
          </a:ln>
        </p:spPr>
      </p:cxnSp>
      <p:sp>
        <p:nvSpPr>
          <p:cNvPr id="25" name="Shape"/>
          <p:cNvSpPr/>
          <p:nvPr/>
        </p:nvSpPr>
        <p:spPr>
          <a:xfrm>
            <a:off x="10396728" y="2331720"/>
            <a:ext cx="1417320" cy="777240"/>
          </a:xfrm>
          <a:prstGeom prst="roundRect">
            <a:avLst/>
          </a:prstGeom>
          <a:solidFill>
            <a:srgbClr val="14264F"/>
          </a:solidFill>
          <a:ln w="12000">
            <a:solidFill>
              <a:srgbClr val="FFFFFF"/>
            </a:solidFill>
          </a:ln>
        </p:spPr>
      </p:sp>
      <p:sp>
        <p:nvSpPr>
          <p:cNvPr id="26" name="Text"/>
          <p:cNvSpPr txBox="1"/>
          <p:nvPr/>
        </p:nvSpPr>
        <p:spPr>
          <a:xfrm>
            <a:off x="10469880" y="2478024"/>
            <a:ext cx="1271016" cy="38404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Saved Reports</a:t>
            </a:r>
          </a:p>
        </p:txBody>
      </p:sp>
      <p:sp>
        <p:nvSpPr>
          <p:cNvPr id="27" name="Bullets"/>
          <p:cNvSpPr txBox="1"/>
          <p:nvPr/>
        </p:nvSpPr>
        <p:spPr>
          <a:xfrm>
            <a:off x="914400" y="3886200"/>
            <a:ext cx="10332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170000" tIns="150000" rIns="170000" bIns="150000">
            <a:spAutoFit/>
          </a:bodyPr>
          <a:lstStyle/>
          <a:p>
            <a:r>
              <a:rPr lang="en-US" sz="1900" b="1">
                <a:solidFill>
                  <a:srgbClr val="14264F"/>
                </a:solidFill>
              </a:rPr>
              <a:t>Security-first workflow</a:t>
            </a:r>
          </a:p>
          <a:p>
            <a:pPr marL="285750" indent="-171450">
              <a:buChar char="-"/>
            </a:pPr>
            <a:r>
              <a:rPr lang="en-US" sz="1600">
                <a:solidFill>
                  <a:srgbClr val="0F172A"/>
                </a:solidFill>
              </a:rPr>
              <a:t>Gemini API key stays server-side in Supabase Secrets.</a:t>
            </a:r>
          </a:p>
          <a:p>
            <a:pPr marL="285750" indent="-171450">
              <a:buChar char="-"/>
            </a:pPr>
            <a:r>
              <a:rPr lang="en-US" sz="1600">
                <a:solidFill>
                  <a:srgbClr val="0F172A"/>
                </a:solidFill>
              </a:rPr>
              <a:t>Database stores scan results, reports, community patterns, and user/anonymous sessions.</a:t>
            </a:r>
          </a:p>
          <a:p>
            <a:pPr marL="285750" indent="-171450">
              <a:buChar char="-"/>
            </a:pPr>
            <a:r>
              <a:rPr lang="en-US" sz="1600">
                <a:solidFill>
                  <a:srgbClr val="0F172A"/>
                </a:solidFill>
              </a:rPr>
              <a:t>Frontend only receives structured verdicts needed for a clear user decision.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4264F"/>
          </a:solidFill>
          <a:ln>
            <a:noFill/>
          </a:ln>
        </p:spPr>
      </p:sp>
      <p:sp>
        <p:nvSpPr>
          <p:cNvPr id="4" name="Text"/>
          <p:cNvSpPr txBox="1"/>
          <p:nvPr/>
        </p:nvSpPr>
        <p:spPr>
          <a:xfrm>
            <a:off x="502920" y="109728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JobShield AI | INNOVIX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48640" y="822960"/>
            <a:ext cx="65836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2900" b="1">
                <a:solidFill>
                  <a:srgbClr val="14264F"/>
                </a:solidFill>
              </a:rPr>
              <a:t>Prototype &amp; Demo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66928" y="1261872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300">
                <a:solidFill>
                  <a:srgbClr val="334155"/>
                </a:solidFill>
              </a:rPr>
              <a:t>Working prototype with web app, AI backend, report storage, and browser copilot extension.</a:t>
            </a:r>
          </a:p>
        </p:txBody>
      </p:sp>
      <p:sp>
        <p:nvSpPr>
          <p:cNvPr id="7" name="Shape"/>
          <p:cNvSpPr/>
          <p:nvPr/>
        </p:nvSpPr>
        <p:spPr>
          <a:xfrm>
            <a:off x="777240" y="1874519"/>
            <a:ext cx="4983480" cy="118872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CBD5E1"/>
            </a:solidFill>
          </a:ln>
        </p:spPr>
      </p:sp>
      <p:sp>
        <p:nvSpPr>
          <p:cNvPr id="8" name="Shape"/>
          <p:cNvSpPr/>
          <p:nvPr/>
        </p:nvSpPr>
        <p:spPr>
          <a:xfrm>
            <a:off x="941832" y="2057399"/>
            <a:ext cx="658368" cy="658368"/>
          </a:xfrm>
          <a:prstGeom prst="roundRect">
            <a:avLst/>
          </a:prstGeom>
          <a:solidFill>
            <a:srgbClr val="14264F"/>
          </a:solidFill>
          <a:ln>
            <a:noFill/>
          </a:ln>
        </p:spPr>
      </p:sp>
      <p:sp>
        <p:nvSpPr>
          <p:cNvPr id="9" name="Text"/>
          <p:cNvSpPr txBox="1"/>
          <p:nvPr/>
        </p:nvSpPr>
        <p:spPr>
          <a:xfrm>
            <a:off x="1737360" y="2075687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800" b="1">
                <a:solidFill>
                  <a:srgbClr val="14264F"/>
                </a:solidFill>
              </a:rPr>
              <a:t>Analyzer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737360" y="2478023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200">
                <a:solidFill>
                  <a:srgbClr val="334155"/>
                </a:solidFill>
              </a:rPr>
              <a:t>Working prototype screen</a:t>
            </a:r>
          </a:p>
        </p:txBody>
      </p:sp>
      <p:sp>
        <p:nvSpPr>
          <p:cNvPr id="11" name="Shape"/>
          <p:cNvSpPr/>
          <p:nvPr/>
        </p:nvSpPr>
        <p:spPr>
          <a:xfrm>
            <a:off x="6355079" y="1874519"/>
            <a:ext cx="4983480" cy="118872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CBD5E1"/>
            </a:solidFill>
          </a:ln>
        </p:spPr>
      </p:sp>
      <p:sp>
        <p:nvSpPr>
          <p:cNvPr id="12" name="Shape"/>
          <p:cNvSpPr/>
          <p:nvPr/>
        </p:nvSpPr>
        <p:spPr>
          <a:xfrm>
            <a:off x="6519671" y="2057399"/>
            <a:ext cx="658368" cy="658368"/>
          </a:xfrm>
          <a:prstGeom prst="roundRect">
            <a:avLst/>
          </a:prstGeom>
          <a:solidFill>
            <a:srgbClr val="14264F"/>
          </a:solidFill>
          <a:ln>
            <a:noFill/>
          </a:ln>
        </p:spPr>
      </p:sp>
      <p:sp>
        <p:nvSpPr>
          <p:cNvPr id="13" name="Text"/>
          <p:cNvSpPr txBox="1"/>
          <p:nvPr/>
        </p:nvSpPr>
        <p:spPr>
          <a:xfrm>
            <a:off x="7315199" y="2075687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800" b="1">
                <a:solidFill>
                  <a:srgbClr val="14264F"/>
                </a:solidFill>
              </a:rPr>
              <a:t>OfferDNA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7315199" y="2478023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200">
                <a:solidFill>
                  <a:srgbClr val="334155"/>
                </a:solidFill>
              </a:rPr>
              <a:t>Working prototype screen</a:t>
            </a:r>
          </a:p>
        </p:txBody>
      </p:sp>
      <p:sp>
        <p:nvSpPr>
          <p:cNvPr id="15" name="Shape"/>
          <p:cNvSpPr/>
          <p:nvPr/>
        </p:nvSpPr>
        <p:spPr>
          <a:xfrm>
            <a:off x="777240" y="3474720"/>
            <a:ext cx="4983480" cy="118872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CBD5E1"/>
            </a:solidFill>
          </a:ln>
        </p:spPr>
      </p:sp>
      <p:sp>
        <p:nvSpPr>
          <p:cNvPr id="16" name="Shape"/>
          <p:cNvSpPr/>
          <p:nvPr/>
        </p:nvSpPr>
        <p:spPr>
          <a:xfrm>
            <a:off x="941832" y="3657600"/>
            <a:ext cx="658368" cy="658368"/>
          </a:xfrm>
          <a:prstGeom prst="roundRect">
            <a:avLst/>
          </a:prstGeom>
          <a:solidFill>
            <a:srgbClr val="14264F"/>
          </a:solidFill>
          <a:ln>
            <a:noFill/>
          </a:ln>
        </p:spPr>
      </p:sp>
      <p:sp>
        <p:nvSpPr>
          <p:cNvPr id="17" name="Text"/>
          <p:cNvSpPr txBox="1"/>
          <p:nvPr/>
        </p:nvSpPr>
        <p:spPr>
          <a:xfrm>
            <a:off x="1737360" y="3675888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800" b="1">
                <a:solidFill>
                  <a:srgbClr val="14264F"/>
                </a:solidFill>
              </a:rPr>
              <a:t>Scam Radar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1737360" y="4078224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200">
                <a:solidFill>
                  <a:srgbClr val="334155"/>
                </a:solidFill>
              </a:rPr>
              <a:t>Working prototype screen</a:t>
            </a:r>
          </a:p>
        </p:txBody>
      </p:sp>
      <p:sp>
        <p:nvSpPr>
          <p:cNvPr id="19" name="Shape"/>
          <p:cNvSpPr/>
          <p:nvPr/>
        </p:nvSpPr>
        <p:spPr>
          <a:xfrm>
            <a:off x="6355079" y="3474720"/>
            <a:ext cx="4983480" cy="118872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CBD5E1"/>
            </a:solidFill>
          </a:ln>
        </p:spPr>
      </p:sp>
      <p:sp>
        <p:nvSpPr>
          <p:cNvPr id="20" name="Shape"/>
          <p:cNvSpPr/>
          <p:nvPr/>
        </p:nvSpPr>
        <p:spPr>
          <a:xfrm>
            <a:off x="6519671" y="3657600"/>
            <a:ext cx="658368" cy="658368"/>
          </a:xfrm>
          <a:prstGeom prst="roundRect">
            <a:avLst/>
          </a:prstGeom>
          <a:solidFill>
            <a:srgbClr val="14264F"/>
          </a:solidFill>
          <a:ln>
            <a:noFill/>
          </a:ln>
        </p:spPr>
      </p:sp>
      <p:sp>
        <p:nvSpPr>
          <p:cNvPr id="21" name="Text"/>
          <p:cNvSpPr txBox="1"/>
          <p:nvPr/>
        </p:nvSpPr>
        <p:spPr>
          <a:xfrm>
            <a:off x="7315199" y="3675888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800" b="1">
                <a:solidFill>
                  <a:srgbClr val="14264F"/>
                </a:solidFill>
              </a:rPr>
              <a:t>Browser Copilot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7315199" y="4078224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200">
                <a:solidFill>
                  <a:srgbClr val="334155"/>
                </a:solidFill>
              </a:rPr>
              <a:t>Working prototype screen</a:t>
            </a:r>
          </a:p>
        </p:txBody>
      </p:sp>
      <p:sp>
        <p:nvSpPr>
          <p:cNvPr id="23" name="Shape"/>
          <p:cNvSpPr/>
          <p:nvPr/>
        </p:nvSpPr>
        <p:spPr>
          <a:xfrm>
            <a:off x="777240" y="5166360"/>
            <a:ext cx="10469880" cy="566928"/>
          </a:xfrm>
          <a:prstGeom prst="roundRect">
            <a:avLst/>
          </a:prstGeom>
          <a:solidFill>
            <a:srgbClr val="14264F"/>
          </a:solidFill>
          <a:ln>
            <a:noFill/>
          </a:ln>
        </p:spPr>
      </p:sp>
      <p:sp>
        <p:nvSpPr>
          <p:cNvPr id="24" name="Text"/>
          <p:cNvSpPr txBox="1"/>
          <p:nvPr/>
        </p:nvSpPr>
        <p:spPr>
          <a:xfrm>
            <a:off x="960120" y="5285232"/>
            <a:ext cx="98755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Live Demo: https://job-shield-ai-kappa.vercel.app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4264F"/>
          </a:solidFill>
          <a:ln>
            <a:noFill/>
          </a:ln>
        </p:spPr>
      </p:sp>
      <p:sp>
        <p:nvSpPr>
          <p:cNvPr id="4" name="Text"/>
          <p:cNvSpPr txBox="1"/>
          <p:nvPr/>
        </p:nvSpPr>
        <p:spPr>
          <a:xfrm>
            <a:off x="502920" y="109728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JobShield AI | INNOVIX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48640" y="822960"/>
            <a:ext cx="65836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2900" b="1">
                <a:solidFill>
                  <a:srgbClr val="14264F"/>
                </a:solidFill>
              </a:rPr>
              <a:t>Innovation, Impact &amp; Scalability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66928" y="1261872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300">
                <a:solidFill>
                  <a:srgbClr val="334155"/>
                </a:solidFill>
              </a:rPr>
              <a:t>Designed as a job-safety intelligence layer, not just a simple spam checker.</a:t>
            </a:r>
          </a:p>
        </p:txBody>
      </p:sp>
      <p:sp>
        <p:nvSpPr>
          <p:cNvPr id="7" name="Shape"/>
          <p:cNvSpPr/>
          <p:nvPr/>
        </p:nvSpPr>
        <p:spPr>
          <a:xfrm>
            <a:off x="685800" y="1828800"/>
            <a:ext cx="2926080" cy="3429000"/>
          </a:xfrm>
          <a:prstGeom prst="roundRect">
            <a:avLst/>
          </a:prstGeom>
          <a:solidFill>
            <a:srgbClr val="14264F"/>
          </a:solidFill>
          <a:ln>
            <a:noFill/>
          </a:ln>
        </p:spPr>
      </p:sp>
      <p:sp>
        <p:nvSpPr>
          <p:cNvPr id="8" name="Text"/>
          <p:cNvSpPr txBox="1"/>
          <p:nvPr/>
        </p:nvSpPr>
        <p:spPr>
          <a:xfrm>
            <a:off x="960120" y="23317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800" b="1">
                <a:solidFill>
                  <a:srgbClr val="F2C94C"/>
                </a:solidFill>
              </a:rPr>
              <a:t>IMPACT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960120" y="2852928"/>
            <a:ext cx="237744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800" b="1">
                <a:solidFill>
                  <a:srgbClr val="FFFFFF"/>
                </a:solidFill>
              </a:rPr>
              <a:t>Protect job seekers at scale through AI + community intelligence.</a:t>
            </a:r>
          </a:p>
        </p:txBody>
      </p:sp>
      <p:sp>
        <p:nvSpPr>
          <p:cNvPr id="10" name="Bullets"/>
          <p:cNvSpPr txBox="1"/>
          <p:nvPr/>
        </p:nvSpPr>
        <p:spPr>
          <a:xfrm>
            <a:off x="3977639" y="1783080"/>
            <a:ext cx="70866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170000" tIns="150000" rIns="170000" bIns="150000">
            <a:spAutoFit/>
          </a:bodyPr>
          <a:lstStyle/>
          <a:p>
            <a:pPr marL="285750" indent="-171450">
              <a:buChar char="-"/>
            </a:pPr>
            <a:r>
              <a:rPr lang="en-US" sz="1700">
                <a:solidFill>
                  <a:srgbClr val="0F172A"/>
                </a:solidFill>
              </a:rPr>
              <a:t>Multimodal job scam analysis across text, screenshots, PDFs, and browser content.</a:t>
            </a:r>
          </a:p>
          <a:p>
            <a:pPr marL="285750" indent="-171450">
              <a:buChar char="-"/>
            </a:pPr>
            <a:r>
              <a:rPr lang="en-US" sz="1700">
                <a:solidFill>
                  <a:srgbClr val="0F172A"/>
                </a:solidFill>
              </a:rPr>
              <a:t>Explainable verdicts using risk score, red flags, OfferDNA, and action plan.</a:t>
            </a:r>
          </a:p>
          <a:p>
            <a:pPr marL="285750" indent="-171450">
              <a:buChar char="-"/>
            </a:pPr>
            <a:r>
              <a:rPr lang="en-US" sz="1700">
                <a:solidFill>
                  <a:srgbClr val="0F172A"/>
                </a:solidFill>
              </a:rPr>
              <a:t>Community trust intelligence through reports and scam pattern tracking.</a:t>
            </a:r>
          </a:p>
          <a:p>
            <a:pPr marL="285750" indent="-171450">
              <a:buChar char="-"/>
            </a:pPr>
            <a:r>
              <a:rPr lang="en-US" sz="1700">
                <a:solidFill>
                  <a:srgbClr val="0F172A"/>
                </a:solidFill>
              </a:rPr>
              <a:t>Scales to colleges, placement cells, job portals, and public safety campaigns.</a:t>
            </a:r>
          </a:p>
          <a:p>
            <a:pPr marL="285750" indent="-171450">
              <a:buChar char="-"/>
            </a:pPr>
            <a:r>
              <a:rPr lang="en-US" sz="1700">
                <a:solidFill>
                  <a:srgbClr val="0F172A"/>
                </a:solidFill>
              </a:rPr>
              <a:t>Social impact: prevents fee scams, identity fraud, and emotional damage for job seekers.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"/>
          <p:cNvSpPr/>
          <p:nvPr/>
        </p:nvSpPr>
        <p:spPr>
          <a:xfrm>
            <a:off x="0" y="0"/>
            <a:ext cx="12192000" cy="566928"/>
          </a:xfrm>
          <a:prstGeom prst="rect">
            <a:avLst/>
          </a:prstGeom>
          <a:solidFill>
            <a:srgbClr val="14264F"/>
          </a:solidFill>
          <a:ln>
            <a:noFill/>
          </a:ln>
        </p:spPr>
      </p:sp>
      <p:sp>
        <p:nvSpPr>
          <p:cNvPr id="4" name="Text"/>
          <p:cNvSpPr txBox="1"/>
          <p:nvPr/>
        </p:nvSpPr>
        <p:spPr>
          <a:xfrm>
            <a:off x="502920" y="109728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JobShield AI | INNOVIX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548640" y="822960"/>
            <a:ext cx="65836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2900" b="1">
                <a:solidFill>
                  <a:srgbClr val="14264F"/>
                </a:solidFill>
              </a:rPr>
              <a:t>Future Scope &amp; Conclusion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566928" y="1261872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en-US" sz="1300">
                <a:solidFill>
                  <a:srgbClr val="334155"/>
                </a:solidFill>
              </a:rPr>
              <a:t>JobShield AI can become a complete job safety platform for students and job seekers.</a:t>
            </a:r>
          </a:p>
        </p:txBody>
      </p:sp>
      <p:sp>
        <p:nvSpPr>
          <p:cNvPr id="7" name="Shape"/>
          <p:cNvSpPr/>
          <p:nvPr/>
        </p:nvSpPr>
        <p:spPr>
          <a:xfrm>
            <a:off x="685800" y="1828800"/>
            <a:ext cx="2926080" cy="3429000"/>
          </a:xfrm>
          <a:prstGeom prst="roundRect">
            <a:avLst/>
          </a:prstGeom>
          <a:solidFill>
            <a:srgbClr val="14264F"/>
          </a:solidFill>
          <a:ln>
            <a:noFill/>
          </a:ln>
        </p:spPr>
      </p:sp>
      <p:sp>
        <p:nvSpPr>
          <p:cNvPr id="8" name="Text"/>
          <p:cNvSpPr txBox="1"/>
          <p:nvPr/>
        </p:nvSpPr>
        <p:spPr>
          <a:xfrm>
            <a:off x="960120" y="23317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800" b="1">
                <a:solidFill>
                  <a:srgbClr val="F2C94C"/>
                </a:solidFill>
              </a:rPr>
              <a:t>NEXT STEP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960120" y="2852928"/>
            <a:ext cx="237744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800" b="1">
                <a:solidFill>
                  <a:srgbClr val="FFFFFF"/>
                </a:solidFill>
              </a:rPr>
              <a:t>Convert the prototype into a full job safety platform.</a:t>
            </a:r>
          </a:p>
        </p:txBody>
      </p:sp>
      <p:sp>
        <p:nvSpPr>
          <p:cNvPr id="10" name="Bullets"/>
          <p:cNvSpPr txBox="1"/>
          <p:nvPr/>
        </p:nvSpPr>
        <p:spPr>
          <a:xfrm>
            <a:off x="3977639" y="1783080"/>
            <a:ext cx="70866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7DEE8"/>
            </a:solidFill>
          </a:ln>
        </p:spPr>
        <p:txBody>
          <a:bodyPr wrap="square" lIns="170000" tIns="150000" rIns="170000" bIns="150000">
            <a:spAutoFit/>
          </a:bodyPr>
          <a:lstStyle/>
          <a:p>
            <a:pPr marL="285750" indent="-171450">
              <a:buChar char="-"/>
            </a:pPr>
            <a:r>
              <a:rPr lang="en-US" sz="1700">
                <a:solidFill>
                  <a:srgbClr val="0F172A"/>
                </a:solidFill>
              </a:rPr>
              <a:t>Live interview deepfake and voice scam detection.</a:t>
            </a:r>
          </a:p>
          <a:p>
            <a:pPr marL="285750" indent="-171450">
              <a:buChar char="-"/>
            </a:pPr>
            <a:r>
              <a:rPr lang="en-US" sz="1700">
                <a:solidFill>
                  <a:srgbClr val="0F172A"/>
                </a:solidFill>
              </a:rPr>
              <a:t>Official company registry and GST/CIN verification APIs.</a:t>
            </a:r>
          </a:p>
          <a:p>
            <a:pPr marL="285750" indent="-171450">
              <a:buChar char="-"/>
            </a:pPr>
            <a:r>
              <a:rPr lang="en-US" sz="1700">
                <a:solidFill>
                  <a:srgbClr val="0F172A"/>
                </a:solidFill>
              </a:rPr>
              <a:t>Advanced multilingual OCR for Indian languages.</a:t>
            </a:r>
          </a:p>
          <a:p>
            <a:pPr marL="285750" indent="-171450">
              <a:buChar char="-"/>
            </a:pPr>
            <a:r>
              <a:rPr lang="en-US" sz="1700">
                <a:solidFill>
                  <a:srgbClr val="0F172A"/>
                </a:solidFill>
              </a:rPr>
              <a:t>Verified recruiter trust score and employer badge system.</a:t>
            </a:r>
          </a:p>
          <a:p>
            <a:pPr marL="285750" indent="-171450">
              <a:buChar char="-"/>
            </a:pPr>
            <a:r>
              <a:rPr lang="en-US" sz="1700">
                <a:solidFill>
                  <a:srgbClr val="0F172A"/>
                </a:solidFill>
              </a:rPr>
              <a:t>Mobile app and share-to-scan integrations for WhatsApp and Telegram.</a:t>
            </a:r>
          </a:p>
          <a:p>
            <a:pPr marL="285750" indent="-171450">
              <a:buChar char="-"/>
            </a:pPr>
            <a:r>
              <a:rPr lang="en-US" sz="1700">
                <a:solidFill>
                  <a:srgbClr val="0F172A"/>
                </a:solidFill>
              </a:rPr>
              <a:t>Conclusion: JobShield AI helps users verify before they trust, pay, or share documents.</a:t>
            </a:r>
          </a:p>
        </p:txBody>
      </p:sp>
    </p:spTree>
  </p:cSld>
  <p:clrMapOvr>
    <a:masterClrMapping/>
  </p:clrMapOvr>
</p:sld>
</file>